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57" r:id="rId3"/>
    <p:sldId id="302" r:id="rId4"/>
    <p:sldId id="273" r:id="rId5"/>
    <p:sldId id="301" r:id="rId6"/>
    <p:sldId id="303" r:id="rId7"/>
    <p:sldId id="304" r:id="rId8"/>
    <p:sldId id="308" r:id="rId9"/>
    <p:sldId id="309" r:id="rId10"/>
    <p:sldId id="310" r:id="rId11"/>
    <p:sldId id="336" r:id="rId12"/>
    <p:sldId id="280" r:id="rId13"/>
    <p:sldId id="314" r:id="rId14"/>
    <p:sldId id="315" r:id="rId15"/>
    <p:sldId id="321" r:id="rId16"/>
    <p:sldId id="337" r:id="rId17"/>
    <p:sldId id="316" r:id="rId18"/>
    <p:sldId id="323" r:id="rId19"/>
    <p:sldId id="324" r:id="rId20"/>
    <p:sldId id="329" r:id="rId21"/>
    <p:sldId id="330" r:id="rId22"/>
    <p:sldId id="331" r:id="rId23"/>
    <p:sldId id="333" r:id="rId24"/>
    <p:sldId id="334" r:id="rId25"/>
    <p:sldId id="335" r:id="rId26"/>
    <p:sldId id="327" r:id="rId27"/>
    <p:sldId id="338" r:id="rId28"/>
    <p:sldId id="339" r:id="rId29"/>
    <p:sldId id="340" r:id="rId30"/>
    <p:sldId id="271" r:id="rId31"/>
  </p:sldIdLst>
  <p:sldSz cx="9144000" cy="6858000" type="screen4x3"/>
  <p:notesSz cx="6858000" cy="9144000"/>
  <p:embeddedFontLst>
    <p:embeddedFont>
      <p:font typeface="微软雅黑" panose="020B0503020204020204" pitchFamily="34" charset="-122"/>
      <p:regular r:id="rId32"/>
      <p:bold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方正稚艺简体" panose="02010600030101010101" charset="-122"/>
      <p:regular r:id="rId38"/>
    </p:embeddedFont>
    <p:embeddedFont>
      <p:font typeface="华文楷体" panose="02010600040101010101" pitchFamily="2" charset="-122"/>
      <p:regular r:id="rId39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0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091" autoAdjust="0"/>
  </p:normalViewPr>
  <p:slideViewPr>
    <p:cSldViewPr snapToGrid="0">
      <p:cViewPr varScale="1">
        <p:scale>
          <a:sx n="57" d="100"/>
          <a:sy n="57" d="100"/>
        </p:scale>
        <p:origin x="48" y="490"/>
      </p:cViewPr>
      <p:guideLst>
        <p:guide orient="horz" pos="2177"/>
        <p:guide pos="30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9BD833-386B-4408-918E-AE2D7C7AFAD6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75F93-D5D3-4F97-98E5-117823E951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26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CD268B-7FE4-4C0A-9812-A55B79350CD0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12A4E-728C-4B9B-B471-3AB5C673162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248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CE0544-95BD-45F2-937D-12B770935BCD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2E23F2-D6FB-4870-9964-49465E58CC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600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C2FDF2-56EB-482E-9952-C2E3E8B35BCA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6306F-237A-4816-828A-BD5DDC97D46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035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3EEB3-4693-41B2-81AF-22AB20721427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0EBC6A-8767-46DE-9C2B-F2D43DDFE7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9225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51D1F0-AA77-4555-B310-DA53092994FC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C5EBC9-1B0F-43E9-8857-6D58D39112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977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87D4D-B15D-4BE7-B2BF-1A4F331A2794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FE263-7FAF-4BF3-9848-BDC03FA277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4592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46417-DAE1-4256-AB7A-164DDD409C6F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B1DBE-BD61-48D1-8694-E13FE73F750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1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A79DE-945F-4270-AF2F-971E5C1BC0DC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CB97AA-D323-4388-943B-BECBDE1FD5A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08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0520F-27FF-4DE1-96D1-2C7F25A9BEDD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8BD30-0732-474B-8379-649CDF7618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82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99CEF-4CE2-4817-8E04-077D9BF38AC6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C946F3-F52F-4F51-8196-530D6BCBF1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238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FA7B294-EC63-4848-B2FD-931CBDF72F4D}" type="datetimeFigureOut">
              <a:rPr lang="zh-CN" altLang="en-US"/>
              <a:pPr>
                <a:defRPr/>
              </a:pPr>
              <a:t>2018/5/23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55DB69E-7CE7-4A51-8241-CF6528C37CE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Century Gothic" pitchFamily="34" charset="0"/>
          <a:ea typeface="方正稚艺简体" pitchFamily="65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2825" y="2138653"/>
            <a:ext cx="60771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体重档案</a:t>
            </a:r>
            <a:r>
              <a:rPr lang="en-US" altLang="zh-CN" sz="60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APP</a:t>
            </a:r>
            <a:endParaRPr lang="zh-CN" altLang="en-US" sz="60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 flipH="1" flipV="1">
            <a:off x="2022231" y="-70338"/>
            <a:ext cx="7192108" cy="2039816"/>
          </a:xfrm>
          <a:prstGeom prst="line">
            <a:avLst/>
          </a:prstGeom>
          <a:ln w="381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/>
          <p:cNvSpPr txBox="1"/>
          <p:nvPr/>
        </p:nvSpPr>
        <p:spPr>
          <a:xfrm>
            <a:off x="103831" y="1150689"/>
            <a:ext cx="52330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移动多媒体软件开发</a:t>
            </a:r>
            <a:r>
              <a:rPr lang="zh-CN" altLang="en-US" sz="6000" b="1" dirty="0" smtClean="0">
                <a:latin typeface="微软雅黑" pitchFamily="34" charset="-122"/>
                <a:ea typeface="微软雅黑" pitchFamily="34" charset="-122"/>
              </a:rPr>
              <a:t>之</a:t>
            </a:r>
            <a:endParaRPr lang="zh-CN" altLang="en-US" sz="80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5642988" y="5224299"/>
            <a:ext cx="2727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方正稚艺简体" panose="02010600030101010101" charset="-122"/>
                <a:ea typeface="方正稚艺简体" panose="02010600030101010101" charset="-122"/>
              </a:rPr>
              <a:t>演讲人</a:t>
            </a:r>
            <a:r>
              <a:rPr lang="zh-CN" altLang="en-US" sz="2800" b="1" dirty="0" smtClean="0">
                <a:solidFill>
                  <a:schemeClr val="bg1"/>
                </a:solidFill>
                <a:latin typeface="方正稚艺简体" panose="02010600030101010101" charset="-122"/>
                <a:ea typeface="方正稚艺简体" panose="02010600030101010101" charset="-122"/>
              </a:rPr>
              <a:t>：</a:t>
            </a:r>
            <a:r>
              <a:rPr lang="en-US" altLang="zh-CN" sz="2800" b="1" dirty="0" smtClean="0">
                <a:solidFill>
                  <a:schemeClr val="bg1"/>
                </a:solidFill>
                <a:latin typeface="方正稚艺简体" panose="02010600030101010101" charset="-122"/>
                <a:ea typeface="方正稚艺简体" panose="02010600030101010101" charset="-122"/>
              </a:rPr>
              <a:t>xxx</a:t>
            </a:r>
            <a:endParaRPr lang="zh-CN" altLang="en-US" sz="2800" b="1" dirty="0">
              <a:solidFill>
                <a:schemeClr val="bg1"/>
              </a:solidFill>
              <a:latin typeface="方正稚艺简体" panose="02010600030101010101" charset="-122"/>
              <a:ea typeface="方正稚艺简体" panose="02010600030101010101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 flipH="1" flipV="1">
            <a:off x="-136282" y="3717024"/>
            <a:ext cx="9640767" cy="72461"/>
          </a:xfrm>
          <a:prstGeom prst="line">
            <a:avLst/>
          </a:prstGeom>
          <a:ln w="38100">
            <a:solidFill>
              <a:schemeClr val="bg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"/>
          <p:cNvSpPr txBox="1"/>
          <p:nvPr/>
        </p:nvSpPr>
        <p:spPr>
          <a:xfrm>
            <a:off x="5642988" y="5904238"/>
            <a:ext cx="2727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方正稚艺简体" panose="02010600030101010101" charset="-122"/>
                <a:ea typeface="方正稚艺简体" panose="02010600030101010101" charset="-122"/>
              </a:rPr>
              <a:t>时间：</a:t>
            </a:r>
            <a:r>
              <a:rPr lang="en-US" altLang="zh-CN" sz="2800" b="1" smtClean="0">
                <a:solidFill>
                  <a:schemeClr val="bg1"/>
                </a:solidFill>
                <a:latin typeface="方正稚艺简体" panose="02010600030101010101" charset="-122"/>
                <a:ea typeface="方正稚艺简体" panose="02010600030101010101" charset="-122"/>
              </a:rPr>
              <a:t>2018-5-15</a:t>
            </a:r>
            <a:endParaRPr lang="zh-CN" altLang="en-US" sz="2800" b="1" dirty="0">
              <a:solidFill>
                <a:schemeClr val="bg1"/>
              </a:solidFill>
              <a:latin typeface="方正稚艺简体" panose="02010600030101010101" charset="-122"/>
              <a:ea typeface="方正稚艺简体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7481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487339" y="2012508"/>
            <a:ext cx="2643186" cy="2714015"/>
            <a:chOff x="3077355" y="2867238"/>
            <a:chExt cx="2644702" cy="1728192"/>
          </a:xfrm>
        </p:grpSpPr>
        <p:sp>
          <p:nvSpPr>
            <p:cNvPr id="15" name="椭圆 14"/>
            <p:cNvSpPr/>
            <p:nvPr/>
          </p:nvSpPr>
          <p:spPr>
            <a:xfrm>
              <a:off x="3077355" y="2867238"/>
              <a:ext cx="2644702" cy="172819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09" name="矩形 16"/>
            <p:cNvSpPr>
              <a:spLocks noChangeArrowheads="1"/>
            </p:cNvSpPr>
            <p:nvPr/>
          </p:nvSpPr>
          <p:spPr bwMode="auto">
            <a:xfrm>
              <a:off x="3297688" y="3187438"/>
              <a:ext cx="2232852" cy="1234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0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体重档案</a:t>
              </a:r>
              <a:r>
                <a:rPr lang="en-US" altLang="zh-CN" sz="40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App</a:t>
              </a:r>
            </a:p>
            <a:p>
              <a:pPr algn="ctr"/>
              <a:r>
                <a:rPr lang="zh-CN" altLang="en-US" sz="40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项目</a:t>
              </a:r>
              <a:endPara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345"/>
          <p:cNvGrpSpPr>
            <a:grpSpLocks/>
          </p:cNvGrpSpPr>
          <p:nvPr/>
        </p:nvGrpSpPr>
        <p:grpSpPr bwMode="auto">
          <a:xfrm>
            <a:off x="6482538" y="503292"/>
            <a:ext cx="1369888" cy="1368629"/>
            <a:chOff x="6156176" y="2492896"/>
            <a:chExt cx="1728192" cy="1728192"/>
          </a:xfrm>
        </p:grpSpPr>
        <p:sp>
          <p:nvSpPr>
            <p:cNvPr id="337" name="椭圆 336"/>
            <p:cNvSpPr/>
            <p:nvPr/>
          </p:nvSpPr>
          <p:spPr>
            <a:xfrm>
              <a:off x="6156176" y="2492896"/>
              <a:ext cx="1728192" cy="172819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03" name="TextBox 341"/>
            <p:cNvSpPr txBox="1">
              <a:spLocks noChangeArrowheads="1"/>
            </p:cNvSpPr>
            <p:nvPr/>
          </p:nvSpPr>
          <p:spPr bwMode="auto">
            <a:xfrm>
              <a:off x="6295290" y="2817995"/>
              <a:ext cx="1530376" cy="1165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项目概述与</a:t>
              </a:r>
              <a:endParaRPr lang="en-US" altLang="zh-CN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 eaLnBrk="1" hangingPunct="1"/>
              <a:r>
                <a:rPr lang="zh-CN" altLang="en-US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需求分析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104" name="矩形 342"/>
            <p:cNvSpPr>
              <a:spLocks noChangeArrowheads="1"/>
            </p:cNvSpPr>
            <p:nvPr/>
          </p:nvSpPr>
          <p:spPr bwMode="auto">
            <a:xfrm>
              <a:off x="6927938" y="2839449"/>
              <a:ext cx="184666" cy="708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345"/>
          <p:cNvGrpSpPr>
            <a:grpSpLocks/>
          </p:cNvGrpSpPr>
          <p:nvPr/>
        </p:nvGrpSpPr>
        <p:grpSpPr bwMode="auto">
          <a:xfrm>
            <a:off x="6491330" y="2045233"/>
            <a:ext cx="1369888" cy="1368629"/>
            <a:chOff x="6156176" y="2492896"/>
            <a:chExt cx="1728192" cy="1728192"/>
          </a:xfrm>
        </p:grpSpPr>
        <p:sp>
          <p:nvSpPr>
            <p:cNvPr id="21" name="椭圆 20"/>
            <p:cNvSpPr/>
            <p:nvPr/>
          </p:nvSpPr>
          <p:spPr>
            <a:xfrm>
              <a:off x="6156176" y="2492896"/>
              <a:ext cx="1728192" cy="172819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TextBox 341"/>
            <p:cNvSpPr txBox="1">
              <a:spLocks noChangeArrowheads="1"/>
            </p:cNvSpPr>
            <p:nvPr/>
          </p:nvSpPr>
          <p:spPr bwMode="auto">
            <a:xfrm>
              <a:off x="6234457" y="3138149"/>
              <a:ext cx="1549442" cy="466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系统设计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342"/>
            <p:cNvSpPr>
              <a:spLocks noChangeArrowheads="1"/>
            </p:cNvSpPr>
            <p:nvPr/>
          </p:nvSpPr>
          <p:spPr bwMode="auto">
            <a:xfrm>
              <a:off x="6927938" y="2839449"/>
              <a:ext cx="184666" cy="708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8" name="组合 345"/>
          <p:cNvGrpSpPr>
            <a:grpSpLocks/>
          </p:cNvGrpSpPr>
          <p:nvPr/>
        </p:nvGrpSpPr>
        <p:grpSpPr bwMode="auto">
          <a:xfrm>
            <a:off x="6514897" y="3538676"/>
            <a:ext cx="1369888" cy="1368629"/>
            <a:chOff x="6156176" y="2492896"/>
            <a:chExt cx="1728192" cy="1728192"/>
          </a:xfrm>
        </p:grpSpPr>
        <p:sp>
          <p:nvSpPr>
            <p:cNvPr id="29" name="椭圆 28"/>
            <p:cNvSpPr/>
            <p:nvPr/>
          </p:nvSpPr>
          <p:spPr>
            <a:xfrm>
              <a:off x="6156176" y="2492896"/>
              <a:ext cx="1728192" cy="172819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TextBox 341"/>
            <p:cNvSpPr txBox="1">
              <a:spLocks noChangeArrowheads="1"/>
            </p:cNvSpPr>
            <p:nvPr/>
          </p:nvSpPr>
          <p:spPr bwMode="auto">
            <a:xfrm>
              <a:off x="6333508" y="3182777"/>
              <a:ext cx="1476543" cy="466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系统</a:t>
              </a:r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实施</a:t>
              </a:r>
            </a:p>
          </p:txBody>
        </p:sp>
        <p:sp>
          <p:nvSpPr>
            <p:cNvPr id="31" name="矩形 342"/>
            <p:cNvSpPr>
              <a:spLocks noChangeArrowheads="1"/>
            </p:cNvSpPr>
            <p:nvPr/>
          </p:nvSpPr>
          <p:spPr bwMode="auto">
            <a:xfrm>
              <a:off x="6927938" y="2839449"/>
              <a:ext cx="184666" cy="708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2" name="组合 345"/>
          <p:cNvGrpSpPr>
            <a:grpSpLocks/>
          </p:cNvGrpSpPr>
          <p:nvPr/>
        </p:nvGrpSpPr>
        <p:grpSpPr bwMode="auto">
          <a:xfrm>
            <a:off x="6561218" y="5071477"/>
            <a:ext cx="1369888" cy="1368629"/>
            <a:chOff x="6156176" y="2492896"/>
            <a:chExt cx="1728192" cy="1728192"/>
          </a:xfrm>
        </p:grpSpPr>
        <p:sp>
          <p:nvSpPr>
            <p:cNvPr id="33" name="椭圆 32"/>
            <p:cNvSpPr/>
            <p:nvPr/>
          </p:nvSpPr>
          <p:spPr>
            <a:xfrm>
              <a:off x="6156176" y="2492896"/>
              <a:ext cx="1728192" cy="172819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4" name="TextBox 341"/>
            <p:cNvSpPr txBox="1">
              <a:spLocks noChangeArrowheads="1"/>
            </p:cNvSpPr>
            <p:nvPr/>
          </p:nvSpPr>
          <p:spPr bwMode="auto">
            <a:xfrm>
              <a:off x="6275073" y="3193594"/>
              <a:ext cx="1487477" cy="466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entury Gothic" pitchFamily="34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lang="zh-CN" altLang="en-US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测试</a:t>
              </a:r>
              <a:r>
                <a:rPr lang="zh-CN" altLang="en-US" b="1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说明</a:t>
              </a:r>
              <a:endParaRPr lang="zh-CN" altLang="en-US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5" name="矩形 342"/>
            <p:cNvSpPr>
              <a:spLocks noChangeArrowheads="1"/>
            </p:cNvSpPr>
            <p:nvPr/>
          </p:nvSpPr>
          <p:spPr bwMode="auto">
            <a:xfrm>
              <a:off x="6927938" y="2839449"/>
              <a:ext cx="184666" cy="7082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7" name="直接连接符 6"/>
          <p:cNvCxnSpPr>
            <a:stCxn id="337" idx="2"/>
          </p:cNvCxnSpPr>
          <p:nvPr/>
        </p:nvCxnSpPr>
        <p:spPr>
          <a:xfrm flipH="1">
            <a:off x="5407269" y="1187607"/>
            <a:ext cx="1075269" cy="5562"/>
          </a:xfrm>
          <a:prstGeom prst="line">
            <a:avLst/>
          </a:prstGeom>
          <a:ln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389685" y="1193169"/>
            <a:ext cx="17584" cy="458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>
            <a:stCxn id="33" idx="2"/>
          </p:cNvCxnSpPr>
          <p:nvPr/>
        </p:nvCxnSpPr>
        <p:spPr>
          <a:xfrm flipH="1">
            <a:off x="5407269" y="5755792"/>
            <a:ext cx="1153949" cy="2075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>
            <a:stCxn id="29" idx="2"/>
          </p:cNvCxnSpPr>
          <p:nvPr/>
        </p:nvCxnSpPr>
        <p:spPr>
          <a:xfrm flipH="1" flipV="1">
            <a:off x="5398477" y="4211515"/>
            <a:ext cx="1116420" cy="1147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21" idx="2"/>
          </p:cNvCxnSpPr>
          <p:nvPr/>
        </p:nvCxnSpPr>
        <p:spPr>
          <a:xfrm flipH="1" flipV="1">
            <a:off x="5407269" y="2716823"/>
            <a:ext cx="1084061" cy="12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>
            <a:stCxn id="15" idx="6"/>
          </p:cNvCxnSpPr>
          <p:nvPr/>
        </p:nvCxnSpPr>
        <p:spPr>
          <a:xfrm flipV="1">
            <a:off x="3130525" y="3360636"/>
            <a:ext cx="2238102" cy="888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3676809" y="2723185"/>
            <a:ext cx="128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目录</a:t>
            </a:r>
            <a:endParaRPr lang="en-US" altLang="zh-CN" sz="36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 advClick="0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259001"/>
            <a:ext cx="9144000" cy="2340000"/>
          </a:xfrm>
          <a:prstGeom prst="rect">
            <a:avLst/>
          </a:prstGeom>
          <a:solidFill>
            <a:srgbClr val="017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833415" y="2991507"/>
            <a:ext cx="85168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6000" b="1" dirty="0">
                <a:solidFill>
                  <a:schemeClr val="bg1"/>
                </a:solidFill>
              </a:rPr>
              <a:t>项目概述与需求分析</a:t>
            </a:r>
            <a:endParaRPr lang="zh-CN" altLang="zh-CN" sz="60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949" y="661794"/>
            <a:ext cx="1117600" cy="538609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b="1" dirty="0" smtClean="0">
                <a:solidFill>
                  <a:schemeClr val="bg1">
                    <a:lumMod val="8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HK" altLang="en-US" sz="34400" b="1" dirty="0">
              <a:solidFill>
                <a:schemeClr val="bg1">
                  <a:lumMod val="8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31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742950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5524500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6185" y="886956"/>
            <a:ext cx="8563708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 smtClean="0"/>
              <a:t>     </a:t>
            </a:r>
            <a:r>
              <a:rPr lang="en-US" altLang="zh-CN" sz="2400" b="1" dirty="0" smtClean="0"/>
              <a:t> 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1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项目概述</a:t>
            </a:r>
            <a:endParaRPr lang="en-US" altLang="zh-CN" sz="1000" b="1" dirty="0">
              <a:solidFill>
                <a:schemeClr val="bg1"/>
              </a:solidFill>
            </a:endParaRPr>
          </a:p>
          <a:p>
            <a:pPr lvl="0"/>
            <a:endParaRPr lang="zh-CN" altLang="zh-CN" sz="1000" b="1" dirty="0"/>
          </a:p>
          <a:p>
            <a:pPr lvl="1"/>
            <a:r>
              <a:rPr lang="en-US" altLang="zh-CN" sz="2000" b="1" dirty="0" smtClean="0">
                <a:solidFill>
                  <a:schemeClr val="bg1"/>
                </a:solidFill>
              </a:rPr>
              <a:t>1.1</a:t>
            </a:r>
            <a:r>
              <a:rPr lang="zh-CN" altLang="en-US" sz="2000" b="1" dirty="0">
                <a:solidFill>
                  <a:schemeClr val="bg1"/>
                </a:solidFill>
              </a:rPr>
              <a:t>项目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背景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lvl="1"/>
            <a:endParaRPr lang="en-US" altLang="zh-CN" sz="2000" b="1" dirty="0" smtClean="0">
              <a:solidFill>
                <a:schemeClr val="bg1"/>
              </a:solidFill>
            </a:endParaRPr>
          </a:p>
          <a:p>
            <a:pPr lvl="1"/>
            <a:r>
              <a:rPr lang="zh-CN" altLang="en-US" b="1" dirty="0" smtClean="0">
                <a:solidFill>
                  <a:schemeClr val="bg1"/>
                </a:solidFill>
              </a:rPr>
              <a:t>       胖</a:t>
            </a:r>
            <a:r>
              <a:rPr lang="zh-CN" altLang="en-US" b="1" dirty="0">
                <a:solidFill>
                  <a:schemeClr val="bg1"/>
                </a:solidFill>
              </a:rPr>
              <a:t>是历来已久的一种多因素引起的代谢障碍疾病。早在 </a:t>
            </a:r>
            <a:r>
              <a:rPr lang="en-US" altLang="zh-CN" b="1" dirty="0">
                <a:solidFill>
                  <a:schemeClr val="bg1"/>
                </a:solidFill>
              </a:rPr>
              <a:t>1948 </a:t>
            </a:r>
            <a:r>
              <a:rPr lang="zh-CN" altLang="en-US" b="1" dirty="0">
                <a:solidFill>
                  <a:schemeClr val="bg1"/>
                </a:solidFill>
              </a:rPr>
              <a:t>年，世界卫生组织已将</a:t>
            </a:r>
            <a:r>
              <a:rPr lang="zh-CN" altLang="en-US" b="1" dirty="0" smtClean="0">
                <a:solidFill>
                  <a:schemeClr val="bg1"/>
                </a:solidFill>
              </a:rPr>
              <a:t>“肥胖”</a:t>
            </a:r>
            <a:r>
              <a:rPr lang="zh-CN" altLang="en-US" b="1" dirty="0">
                <a:solidFill>
                  <a:schemeClr val="bg1"/>
                </a:solidFill>
              </a:rPr>
              <a:t>列入疾病名单。随着全球经济的快速发展，移动互联网的兴起、人民生活水平的提高</a:t>
            </a:r>
            <a:r>
              <a:rPr lang="zh-CN" altLang="en-US" b="1" dirty="0" smtClean="0">
                <a:solidFill>
                  <a:schemeClr val="bg1"/>
                </a:solidFill>
              </a:rPr>
              <a:t>，加上</a:t>
            </a:r>
            <a:r>
              <a:rPr lang="zh-CN" altLang="en-US" b="1" dirty="0">
                <a:solidFill>
                  <a:schemeClr val="bg1"/>
                </a:solidFill>
              </a:rPr>
              <a:t>不合理的膳食结构、不良生活方式等出现，肥胖已成为公共卫生焦点问题。随着人们</a:t>
            </a:r>
            <a:r>
              <a:rPr lang="zh-CN" altLang="en-US" b="1" dirty="0" smtClean="0">
                <a:solidFill>
                  <a:schemeClr val="bg1"/>
                </a:solidFill>
              </a:rPr>
              <a:t>对肥胖</a:t>
            </a:r>
            <a:r>
              <a:rPr lang="zh-CN" altLang="en-US" b="1" dirty="0">
                <a:solidFill>
                  <a:schemeClr val="bg1"/>
                </a:solidFill>
              </a:rPr>
              <a:t>危害的认知度提高，减重的治疗方法也在历久弥新，健康生活，控制体重已日益成为</a:t>
            </a:r>
            <a:r>
              <a:rPr lang="zh-CN" altLang="en-US" b="1" dirty="0" smtClean="0">
                <a:solidFill>
                  <a:schemeClr val="bg1"/>
                </a:solidFill>
              </a:rPr>
              <a:t>人们</a:t>
            </a:r>
            <a:r>
              <a:rPr lang="zh-CN" altLang="en-US" b="1" dirty="0">
                <a:solidFill>
                  <a:schemeClr val="bg1"/>
                </a:solidFill>
              </a:rPr>
              <a:t>所重视的问题。与此同时，大众审美观念的趋势也促使了人们对自身体重的高度重视。</a:t>
            </a:r>
            <a:r>
              <a:rPr lang="zh-CN" altLang="en-US" b="1" dirty="0" smtClean="0">
                <a:solidFill>
                  <a:schemeClr val="bg1"/>
                </a:solidFill>
              </a:rPr>
              <a:t>随着</a:t>
            </a:r>
            <a:r>
              <a:rPr lang="zh-CN" altLang="en-US" b="1" dirty="0">
                <a:solidFill>
                  <a:schemeClr val="bg1"/>
                </a:solidFill>
              </a:rPr>
              <a:t>移动互联网和智能手机的发展和不断进步，当今市场上已出现各种五花八门的健康</a:t>
            </a:r>
            <a:r>
              <a:rPr lang="zh-CN" altLang="en-US" b="1" dirty="0" smtClean="0">
                <a:solidFill>
                  <a:schemeClr val="bg1"/>
                </a:solidFill>
              </a:rPr>
              <a:t>记录</a:t>
            </a:r>
            <a:r>
              <a:rPr lang="en-US" altLang="zh-CN" b="1" dirty="0" smtClean="0">
                <a:solidFill>
                  <a:schemeClr val="bg1"/>
                </a:solidFill>
              </a:rPr>
              <a:t>APP</a:t>
            </a:r>
            <a:r>
              <a:rPr lang="zh-CN" altLang="en-US" b="1" dirty="0">
                <a:solidFill>
                  <a:schemeClr val="bg1"/>
                </a:solidFill>
              </a:rPr>
              <a:t>，几乎所有人的智能手机上都会有一款检测身体状况的 </a:t>
            </a:r>
            <a:r>
              <a:rPr lang="en-US" altLang="zh-CN" b="1" dirty="0">
                <a:solidFill>
                  <a:schemeClr val="bg1"/>
                </a:solidFill>
              </a:rPr>
              <a:t>APP</a:t>
            </a:r>
            <a:r>
              <a:rPr lang="zh-CN" altLang="en-US" b="1" dirty="0">
                <a:solidFill>
                  <a:schemeClr val="bg1"/>
                </a:solidFill>
              </a:rPr>
              <a:t>，这些 </a:t>
            </a:r>
            <a:r>
              <a:rPr lang="en-US" altLang="zh-CN" b="1" dirty="0">
                <a:solidFill>
                  <a:schemeClr val="bg1"/>
                </a:solidFill>
              </a:rPr>
              <a:t>APP </a:t>
            </a:r>
            <a:r>
              <a:rPr lang="zh-CN" altLang="en-US" b="1" dirty="0">
                <a:solidFill>
                  <a:schemeClr val="bg1"/>
                </a:solidFill>
              </a:rPr>
              <a:t>可以很好的</a:t>
            </a:r>
            <a:r>
              <a:rPr lang="zh-CN" altLang="en-US" b="1" dirty="0" smtClean="0">
                <a:solidFill>
                  <a:schemeClr val="bg1"/>
                </a:solidFill>
              </a:rPr>
              <a:t>帮助</a:t>
            </a:r>
            <a:r>
              <a:rPr lang="zh-CN" altLang="en-US" b="1" dirty="0">
                <a:solidFill>
                  <a:schemeClr val="bg1"/>
                </a:solidFill>
              </a:rPr>
              <a:t>人们了解自身身体状况，及时做出调整。</a:t>
            </a:r>
            <a:r>
              <a:rPr lang="zh-CN" altLang="en-US" b="1" dirty="0"/>
              <a:t> </a:t>
            </a:r>
            <a:endParaRPr lang="en-US" altLang="zh-CN" b="1" dirty="0" smtClean="0"/>
          </a:p>
          <a:p>
            <a:pPr lvl="1"/>
            <a:endParaRPr lang="en-US" altLang="zh-CN" sz="2400" b="1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296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742950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5524500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0338" y="742950"/>
            <a:ext cx="2162907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 smtClean="0"/>
              <a:t>     </a:t>
            </a:r>
          </a:p>
          <a:p>
            <a:pPr lvl="1"/>
            <a:r>
              <a:rPr lang="en-US" altLang="zh-CN" sz="2000" b="1" dirty="0" smtClean="0">
                <a:solidFill>
                  <a:schemeClr val="bg1"/>
                </a:solidFill>
              </a:rPr>
              <a:t>1.2</a:t>
            </a:r>
            <a:r>
              <a:rPr lang="zh-CN" altLang="en-US" sz="2000" b="1" dirty="0">
                <a:solidFill>
                  <a:schemeClr val="bg1"/>
                </a:solidFill>
              </a:rPr>
              <a:t>系统目标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lvl="1"/>
            <a:endParaRPr lang="en-US" altLang="zh-CN" sz="2400" b="1" dirty="0" smtClean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05706" y="1546563"/>
            <a:ext cx="65942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根据用户对该类软件的使用要求，我们组制定了如下系统目标</a:t>
            </a:r>
            <a:r>
              <a:rPr lang="zh-CN" altLang="en-US" dirty="0" smtClean="0">
                <a:solidFill>
                  <a:schemeClr val="bg1"/>
                </a:solidFill>
              </a:rPr>
              <a:t>：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 </a:t>
            </a:r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 操作简单、易于掌握、界面简洁清爽。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 方便对屏幕进行触摸操作。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 要包含对身体状况的评估，并记录长时间内的数据。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 </a:t>
            </a:r>
            <a:r>
              <a:rPr lang="en-US" altLang="zh-CN" dirty="0">
                <a:solidFill>
                  <a:schemeClr val="bg1"/>
                </a:solidFill>
              </a:rPr>
              <a:t>App </a:t>
            </a:r>
            <a:r>
              <a:rPr lang="zh-CN" altLang="en-US" dirty="0">
                <a:solidFill>
                  <a:schemeClr val="bg1"/>
                </a:solidFill>
              </a:rPr>
              <a:t>占用内存不应过大。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 系统运行稳定，不能和手机固有的软件冲突。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zh-CN" altLang="en-US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 保密性好，安全可靠。 </a:t>
            </a:r>
          </a:p>
        </p:txBody>
      </p:sp>
    </p:spTree>
    <p:extLst>
      <p:ext uri="{BB962C8B-B14F-4D97-AF65-F5344CB8AC3E}">
        <p14:creationId xmlns:p14="http://schemas.microsoft.com/office/powerpoint/2010/main" val="3798143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742950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5524500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46185" y="886956"/>
            <a:ext cx="856370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b="1" dirty="0" smtClean="0"/>
              <a:t>     </a:t>
            </a:r>
            <a:r>
              <a:rPr lang="en-US" altLang="zh-CN" sz="2400" b="1" dirty="0" smtClean="0"/>
              <a:t> </a:t>
            </a:r>
            <a:r>
              <a:rPr lang="en-US" altLang="zh-CN" sz="3200" b="1" dirty="0">
                <a:solidFill>
                  <a:schemeClr val="bg1"/>
                </a:solidFill>
              </a:rPr>
              <a:t>2</a:t>
            </a:r>
            <a:r>
              <a:rPr lang="en-US" altLang="zh-CN" sz="3200" b="1" dirty="0" smtClean="0">
                <a:solidFill>
                  <a:schemeClr val="bg1"/>
                </a:solidFill>
              </a:rPr>
              <a:t> 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需求分析</a:t>
            </a:r>
            <a:endParaRPr lang="zh-CN" altLang="zh-CN" sz="1000" b="1" dirty="0"/>
          </a:p>
          <a:p>
            <a:pPr lvl="1"/>
            <a:r>
              <a:rPr lang="en-US" altLang="zh-CN" sz="2000" b="1" dirty="0" smtClean="0">
                <a:solidFill>
                  <a:schemeClr val="bg1"/>
                </a:solidFill>
              </a:rPr>
              <a:t>1.1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系统功能分析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pPr lvl="1"/>
            <a:endParaRPr lang="en-US" altLang="zh-CN" sz="2400" b="1" dirty="0" smtClean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93730" y="1714500"/>
            <a:ext cx="59436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该系统具有的功能有</a:t>
            </a:r>
            <a:r>
              <a:rPr lang="zh-CN" altLang="en-US" dirty="0" smtClean="0">
                <a:solidFill>
                  <a:schemeClr val="bg1"/>
                </a:solidFill>
              </a:rPr>
              <a:t>：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 可以长时间保存体重状况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 </a:t>
            </a:r>
            <a:r>
              <a:rPr lang="zh-CN" altLang="en-US" dirty="0">
                <a:solidFill>
                  <a:schemeClr val="bg1"/>
                </a:solidFill>
              </a:rPr>
              <a:t>根据数据显示出散点图，直观反映体重变化</a:t>
            </a:r>
            <a:r>
              <a:rPr lang="zh-CN" altLang="en-US" dirty="0" smtClean="0">
                <a:solidFill>
                  <a:schemeClr val="bg1"/>
                </a:solidFill>
              </a:rPr>
              <a:t>情况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 可以查找出某一天的数据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 </a:t>
            </a:r>
            <a:r>
              <a:rPr lang="zh-CN" altLang="en-US" dirty="0">
                <a:solidFill>
                  <a:schemeClr val="bg1"/>
                </a:solidFill>
              </a:rPr>
              <a:t>可以根据输入的身高、体重、性别判断出身体</a:t>
            </a:r>
            <a:r>
              <a:rPr lang="zh-CN" altLang="en-US" dirty="0" smtClean="0">
                <a:solidFill>
                  <a:schemeClr val="bg1"/>
                </a:solidFill>
              </a:rPr>
              <a:t>状况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 </a:t>
            </a:r>
            <a:r>
              <a:rPr lang="zh-CN" altLang="en-US" dirty="0">
                <a:solidFill>
                  <a:schemeClr val="bg1"/>
                </a:solidFill>
              </a:rPr>
              <a:t>给出合理饮食建议 </a:t>
            </a:r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zh-CN" altLang="en-US" dirty="0" smtClean="0">
                <a:solidFill>
                  <a:schemeClr val="bg1"/>
                </a:solidFill>
              </a:rPr>
              <a:t> </a:t>
            </a:r>
            <a:r>
              <a:rPr lang="zh-CN" altLang="en-US" dirty="0">
                <a:solidFill>
                  <a:schemeClr val="bg1"/>
                </a:solidFill>
              </a:rPr>
              <a:t>介绍一些与身高体重相关的指标 </a:t>
            </a:r>
          </a:p>
        </p:txBody>
      </p:sp>
    </p:spTree>
    <p:extLst>
      <p:ext uri="{BB962C8B-B14F-4D97-AF65-F5344CB8AC3E}">
        <p14:creationId xmlns:p14="http://schemas.microsoft.com/office/powerpoint/2010/main" val="102117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08" y="900112"/>
            <a:ext cx="1209674" cy="1209675"/>
            <a:chOff x="6131859" y="1452283"/>
            <a:chExt cx="1210235" cy="1210235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336681" y="1696996"/>
              <a:ext cx="800590" cy="83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数据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保存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747858" y="1190878"/>
            <a:ext cx="504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建立了一个数据库用来记录长期的数据。如图： </a:t>
            </a: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3878603" y="2385646"/>
            <a:ext cx="2539781" cy="363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36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13" y="775379"/>
            <a:ext cx="1209675" cy="1334408"/>
            <a:chOff x="6131859" y="1327492"/>
            <a:chExt cx="1210235" cy="1335026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304828" y="1327492"/>
              <a:ext cx="892004" cy="1200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endParaRPr lang="en-US" altLang="zh-CN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图表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功能 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747858" y="1190878"/>
            <a:ext cx="504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通过图表直观的反映出体重变化情况。如图： </a:t>
            </a:r>
          </a:p>
        </p:txBody>
      </p:sp>
      <p:pic>
        <p:nvPicPr>
          <p:cNvPr id="12" name="图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3852226" y="2165666"/>
            <a:ext cx="2390311" cy="384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2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08" y="900112"/>
            <a:ext cx="1209674" cy="1209675"/>
            <a:chOff x="6131859" y="1452283"/>
            <a:chExt cx="1210235" cy="1210235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290974" y="1696996"/>
              <a:ext cx="892005" cy="83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诊断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功能 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721481" y="1175060"/>
            <a:ext cx="50467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可以根据输入的身高、体重、性别判断出身体状况，如图： </a:t>
            </a: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3878603" y="2385646"/>
            <a:ext cx="2539781" cy="363708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878603" y="2385646"/>
            <a:ext cx="2539781" cy="363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08" y="900112"/>
            <a:ext cx="1209674" cy="1209675"/>
            <a:chOff x="6131859" y="1452283"/>
            <a:chExt cx="1210235" cy="1210235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336681" y="1696996"/>
              <a:ext cx="800590" cy="83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更多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功能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2747858" y="1190878"/>
            <a:ext cx="504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个人信息的设置和系统功能的设置等，如图： </a:t>
            </a: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3878603" y="2385646"/>
            <a:ext cx="2539781" cy="363708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878603" y="2385646"/>
            <a:ext cx="2539781" cy="363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28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259001"/>
            <a:ext cx="9144000" cy="2340000"/>
          </a:xfrm>
          <a:prstGeom prst="rect">
            <a:avLst/>
          </a:prstGeom>
          <a:solidFill>
            <a:srgbClr val="017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554384" y="2921169"/>
            <a:ext cx="85168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6000" b="1" dirty="0" smtClean="0">
                <a:solidFill>
                  <a:schemeClr val="bg1"/>
                </a:solidFill>
              </a:rPr>
              <a:t>系统设计</a:t>
            </a:r>
            <a:endParaRPr lang="zh-CN" altLang="zh-CN" sz="60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949" y="661794"/>
            <a:ext cx="1117600" cy="538609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b="1" dirty="0">
                <a:solidFill>
                  <a:schemeClr val="bg1">
                    <a:lumMod val="8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endParaRPr lang="zh-HK" altLang="en-US" sz="34400" b="1" dirty="0">
              <a:solidFill>
                <a:schemeClr val="bg1">
                  <a:lumMod val="8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011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、系统</a:t>
            </a:r>
            <a:r>
              <a:rPr lang="zh-CN" altLang="en-US" sz="3200" b="1" dirty="0">
                <a:solidFill>
                  <a:schemeClr val="bg1"/>
                </a:solidFill>
              </a:rPr>
              <a:t>设计</a:t>
            </a:r>
          </a:p>
        </p:txBody>
      </p:sp>
      <p:sp>
        <p:nvSpPr>
          <p:cNvPr id="2" name="矩形 1"/>
          <p:cNvSpPr/>
          <p:nvPr/>
        </p:nvSpPr>
        <p:spPr>
          <a:xfrm>
            <a:off x="549021" y="1699374"/>
            <a:ext cx="3092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2.1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系统</a:t>
            </a:r>
            <a:r>
              <a:rPr lang="zh-CN" altLang="en-US" sz="2400" b="1" dirty="0">
                <a:solidFill>
                  <a:schemeClr val="bg1"/>
                </a:solidFill>
              </a:rPr>
              <a:t>总体结构设计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11" name="图片 10" descr="C:\Users\Administrator\Desktop\体重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399" y="1431579"/>
            <a:ext cx="4890770" cy="4430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865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、系统</a:t>
            </a:r>
            <a:r>
              <a:rPr lang="zh-CN" altLang="en-US" sz="3200" b="1" dirty="0">
                <a:solidFill>
                  <a:schemeClr val="bg1"/>
                </a:solidFill>
              </a:rPr>
              <a:t>设计</a:t>
            </a:r>
          </a:p>
        </p:txBody>
      </p:sp>
      <p:sp>
        <p:nvSpPr>
          <p:cNvPr id="2" name="矩形 1"/>
          <p:cNvSpPr/>
          <p:nvPr/>
        </p:nvSpPr>
        <p:spPr>
          <a:xfrm>
            <a:off x="342506" y="1672997"/>
            <a:ext cx="2783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2.2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子系统接口设计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11" name="图片 10" descr="C:\Users\Administrator\Desktop\体重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4399" y="1431579"/>
            <a:ext cx="4890770" cy="4430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3744399" y="1431578"/>
            <a:ext cx="4890770" cy="443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4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、系统</a:t>
            </a:r>
            <a:r>
              <a:rPr lang="zh-CN" altLang="en-US" sz="3200" b="1" dirty="0">
                <a:solidFill>
                  <a:schemeClr val="bg1"/>
                </a:solidFill>
              </a:rPr>
              <a:t>设计</a:t>
            </a:r>
          </a:p>
        </p:txBody>
      </p:sp>
      <p:sp>
        <p:nvSpPr>
          <p:cNvPr id="2" name="矩形 1"/>
          <p:cNvSpPr/>
          <p:nvPr/>
        </p:nvSpPr>
        <p:spPr>
          <a:xfrm>
            <a:off x="680906" y="1500201"/>
            <a:ext cx="21643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2.3</a:t>
            </a:r>
            <a:r>
              <a:rPr lang="zh-CN" altLang="en-US" sz="2400" b="1" dirty="0">
                <a:solidFill>
                  <a:schemeClr val="bg1"/>
                </a:solidFill>
              </a:rPr>
              <a:t>数据库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设计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4292" y="1961866"/>
            <a:ext cx="26148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2</a:t>
            </a:r>
            <a:r>
              <a:rPr lang="zh-CN" altLang="en-US" dirty="0" smtClean="0">
                <a:solidFill>
                  <a:schemeClr val="bg1"/>
                </a:solidFill>
              </a:rPr>
              <a:t>.</a:t>
            </a:r>
            <a:r>
              <a:rPr lang="en-US" altLang="zh-CN" dirty="0" smtClean="0">
                <a:solidFill>
                  <a:schemeClr val="bg1"/>
                </a:solidFill>
              </a:rPr>
              <a:t>3</a:t>
            </a:r>
            <a:r>
              <a:rPr lang="zh-CN" altLang="en-US" dirty="0" smtClean="0">
                <a:solidFill>
                  <a:schemeClr val="bg1"/>
                </a:solidFill>
              </a:rPr>
              <a:t>.</a:t>
            </a:r>
            <a:r>
              <a:rPr lang="zh-CN" altLang="en-US" dirty="0">
                <a:solidFill>
                  <a:schemeClr val="bg1"/>
                </a:solidFill>
              </a:rPr>
              <a:t>1 数据库 E-R 图设计</a:t>
            </a:r>
          </a:p>
        </p:txBody>
      </p:sp>
      <p:sp>
        <p:nvSpPr>
          <p:cNvPr id="4" name="矩形 3"/>
          <p:cNvSpPr/>
          <p:nvPr/>
        </p:nvSpPr>
        <p:spPr>
          <a:xfrm>
            <a:off x="1371267" y="2423531"/>
            <a:ext cx="62425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kern="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zh-CN" altLang="zh-CN" kern="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数据库</a:t>
            </a:r>
            <a:r>
              <a:rPr lang="zh-CN" altLang="zh-CN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的概念设计，即利用数据模型进行概念数据库的模式设计。根据体重档案系统的需求，设计出以下的实体</a:t>
            </a:r>
            <a:r>
              <a:rPr lang="en-US" altLang="zh-CN" kern="100" dirty="0">
                <a:solidFill>
                  <a:schemeClr val="bg1"/>
                </a:solidFill>
                <a:latin typeface="Times New Roman" panose="02020603050405020304" pitchFamily="18" charset="0"/>
              </a:rPr>
              <a:t>-</a:t>
            </a:r>
            <a:r>
              <a:rPr lang="zh-CN" altLang="zh-CN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关系模型（</a:t>
            </a:r>
            <a:r>
              <a:rPr lang="en-US" altLang="zh-CN" kern="100" dirty="0">
                <a:solidFill>
                  <a:schemeClr val="bg1"/>
                </a:solidFill>
                <a:latin typeface="Times New Roman" panose="02020603050405020304" pitchFamily="18" charset="0"/>
              </a:rPr>
              <a:t>E-R</a:t>
            </a:r>
            <a:r>
              <a:rPr lang="zh-CN" altLang="zh-CN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）图如图。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923" y="3346860"/>
            <a:ext cx="4511431" cy="254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05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105841" y="6293438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2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、系统</a:t>
            </a:r>
            <a:r>
              <a:rPr lang="zh-CN" altLang="en-US" sz="3200" b="1" dirty="0">
                <a:solidFill>
                  <a:schemeClr val="bg1"/>
                </a:solidFill>
              </a:rPr>
              <a:t>设计</a:t>
            </a:r>
          </a:p>
        </p:txBody>
      </p:sp>
      <p:sp>
        <p:nvSpPr>
          <p:cNvPr id="3" name="矩形 2"/>
          <p:cNvSpPr/>
          <p:nvPr/>
        </p:nvSpPr>
        <p:spPr>
          <a:xfrm>
            <a:off x="626899" y="1515381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2</a:t>
            </a:r>
            <a:r>
              <a:rPr lang="zh-CN" altLang="en-US" dirty="0" smtClean="0">
                <a:solidFill>
                  <a:schemeClr val="bg1"/>
                </a:solidFill>
              </a:rPr>
              <a:t>.</a:t>
            </a:r>
            <a:r>
              <a:rPr lang="en-US" altLang="zh-CN" dirty="0" smtClean="0">
                <a:solidFill>
                  <a:schemeClr val="bg1"/>
                </a:solidFill>
              </a:rPr>
              <a:t>3</a:t>
            </a:r>
            <a:r>
              <a:rPr lang="zh-CN" altLang="en-US" dirty="0" smtClean="0">
                <a:solidFill>
                  <a:schemeClr val="bg1"/>
                </a:solidFill>
              </a:rPr>
              <a:t>.</a:t>
            </a:r>
            <a:r>
              <a:rPr lang="en-US" altLang="zh-CN" dirty="0" smtClean="0">
                <a:solidFill>
                  <a:schemeClr val="bg1"/>
                </a:solidFill>
              </a:rPr>
              <a:t>2</a:t>
            </a:r>
            <a:r>
              <a:rPr lang="zh-CN" altLang="en-US" dirty="0" smtClean="0">
                <a:solidFill>
                  <a:schemeClr val="bg1"/>
                </a:solidFill>
              </a:rPr>
              <a:t> 数据表设计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58462" y="1792255"/>
            <a:ext cx="715693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数据库</a:t>
            </a:r>
            <a:r>
              <a:rPr lang="zh-CN" altLang="en-US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的逻辑设计，即把概念设计得到的概念数据库模式变为逻辑数据模式，它依赖</a:t>
            </a:r>
            <a:r>
              <a:rPr lang="zh-CN" altLang="en-US" kern="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于</a:t>
            </a:r>
            <a:r>
              <a:rPr lang="en-US" altLang="zh-CN" kern="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</a:t>
            </a:r>
            <a:r>
              <a:rPr lang="zh-CN" altLang="en-US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。根据体重档案系统的需求分析及数据库的概念设计，建立数据库了 </a:t>
            </a:r>
            <a:r>
              <a:rPr lang="en-US" altLang="zh-CN" kern="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info_db</a:t>
            </a:r>
            <a:r>
              <a:rPr lang="zh-CN" altLang="en-US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 </a:t>
            </a:r>
          </a:p>
          <a:p>
            <a:r>
              <a:rPr lang="zh-CN" altLang="en-US" kern="1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建库</a:t>
            </a:r>
            <a:r>
              <a:rPr lang="zh-CN" altLang="en-US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语句：</a:t>
            </a:r>
            <a:r>
              <a:rPr lang="en-US" altLang="zh-CN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database </a:t>
            </a:r>
            <a:r>
              <a:rPr lang="en-US" altLang="zh-CN" kern="1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info_db</a:t>
            </a:r>
            <a:r>
              <a:rPr lang="en-US" altLang="zh-CN" kern="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356" y="2992584"/>
            <a:ext cx="5296359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36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259001"/>
            <a:ext cx="9144000" cy="2340000"/>
          </a:xfrm>
          <a:prstGeom prst="rect">
            <a:avLst/>
          </a:prstGeom>
          <a:solidFill>
            <a:srgbClr val="017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675169" y="2921169"/>
            <a:ext cx="3793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6000" b="1" dirty="0" smtClean="0">
                <a:solidFill>
                  <a:schemeClr val="bg1"/>
                </a:solidFill>
              </a:rPr>
              <a:t>系统实施</a:t>
            </a:r>
            <a:endParaRPr lang="zh-CN" altLang="zh-CN" sz="60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949" y="661794"/>
            <a:ext cx="1117600" cy="538609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b="1" dirty="0">
                <a:solidFill>
                  <a:schemeClr val="bg1">
                    <a:lumMod val="8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endParaRPr lang="zh-HK" altLang="en-US" sz="34400" b="1" dirty="0">
              <a:solidFill>
                <a:schemeClr val="bg1">
                  <a:lumMod val="8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9297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3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、系统</a:t>
            </a:r>
            <a:r>
              <a:rPr lang="zh-CN" altLang="en-US" sz="3200" b="1" dirty="0">
                <a:solidFill>
                  <a:schemeClr val="bg1"/>
                </a:solidFill>
              </a:rPr>
              <a:t>实施</a:t>
            </a:r>
          </a:p>
        </p:txBody>
      </p:sp>
      <p:sp>
        <p:nvSpPr>
          <p:cNvPr id="2" name="矩形 1"/>
          <p:cNvSpPr/>
          <p:nvPr/>
        </p:nvSpPr>
        <p:spPr>
          <a:xfrm>
            <a:off x="549021" y="1699374"/>
            <a:ext cx="18549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3.1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函数设计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537" y="1500201"/>
            <a:ext cx="5258256" cy="420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09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105841" y="5713146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9537" y="1500201"/>
            <a:ext cx="5258256" cy="38189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917" y="1699374"/>
            <a:ext cx="5265876" cy="182133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537" y="3520712"/>
            <a:ext cx="5273497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715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6548414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bg1"/>
                </a:solidFill>
              </a:rPr>
              <a:t>3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、系统</a:t>
            </a:r>
            <a:r>
              <a:rPr lang="zh-CN" altLang="en-US" sz="3200" b="1" dirty="0">
                <a:solidFill>
                  <a:schemeClr val="bg1"/>
                </a:solidFill>
              </a:rPr>
              <a:t>实施</a:t>
            </a:r>
          </a:p>
        </p:txBody>
      </p:sp>
      <p:sp>
        <p:nvSpPr>
          <p:cNvPr id="2" name="矩形 1"/>
          <p:cNvSpPr/>
          <p:nvPr/>
        </p:nvSpPr>
        <p:spPr>
          <a:xfrm>
            <a:off x="549021" y="1699374"/>
            <a:ext cx="21643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3.2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函数调用图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713396" y="1325655"/>
            <a:ext cx="6137910" cy="50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605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接连接符 43"/>
          <p:cNvCxnSpPr/>
          <p:nvPr/>
        </p:nvCxnSpPr>
        <p:spPr>
          <a:xfrm>
            <a:off x="4572000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4"/>
          <p:cNvGrpSpPr>
            <a:grpSpLocks/>
          </p:cNvGrpSpPr>
          <p:nvPr/>
        </p:nvGrpSpPr>
        <p:grpSpPr bwMode="auto">
          <a:xfrm>
            <a:off x="2809624" y="2708275"/>
            <a:ext cx="3546993" cy="1727200"/>
            <a:chOff x="5242588" y="2492896"/>
            <a:chExt cx="3549029" cy="1728192"/>
          </a:xfrm>
        </p:grpSpPr>
        <p:sp>
          <p:nvSpPr>
            <p:cNvPr id="2" name="椭圆 1"/>
            <p:cNvSpPr/>
            <p:nvPr/>
          </p:nvSpPr>
          <p:spPr>
            <a:xfrm>
              <a:off x="6156176" y="2492896"/>
              <a:ext cx="1728192" cy="1728192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79" name="矩形 3"/>
            <p:cNvSpPr>
              <a:spLocks noChangeArrowheads="1"/>
            </p:cNvSpPr>
            <p:nvPr/>
          </p:nvSpPr>
          <p:spPr bwMode="auto">
            <a:xfrm>
              <a:off x="5242588" y="2724849"/>
              <a:ext cx="3549029" cy="1077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3.3</a:t>
              </a:r>
            </a:p>
            <a:p>
              <a:pPr algn="ctr"/>
              <a:r>
                <a:rPr lang="zh-CN" altLang="en-US" sz="32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重要代码</a:t>
              </a:r>
              <a:endParaRPr lang="zh-CN" altLang="en-US" sz="32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" name="组合 10"/>
          <p:cNvGrpSpPr>
            <a:grpSpLocks/>
          </p:cNvGrpSpPr>
          <p:nvPr/>
        </p:nvGrpSpPr>
        <p:grpSpPr bwMode="auto">
          <a:xfrm>
            <a:off x="5741983" y="1304925"/>
            <a:ext cx="1209674" cy="1209675"/>
            <a:chOff x="6131859" y="1452283"/>
            <a:chExt cx="1210235" cy="1210235"/>
          </a:xfrm>
        </p:grpSpPr>
        <p:sp>
          <p:nvSpPr>
            <p:cNvPr id="6" name="椭圆 5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77" name="矩形 6"/>
            <p:cNvSpPr>
              <a:spLocks noChangeArrowheads="1"/>
            </p:cNvSpPr>
            <p:nvPr/>
          </p:nvSpPr>
          <p:spPr bwMode="auto">
            <a:xfrm>
              <a:off x="6336681" y="1696996"/>
              <a:ext cx="800590" cy="831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界面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布局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5" name="组合 9"/>
          <p:cNvGrpSpPr>
            <a:grpSpLocks/>
          </p:cNvGrpSpPr>
          <p:nvPr/>
        </p:nvGrpSpPr>
        <p:grpSpPr bwMode="auto">
          <a:xfrm>
            <a:off x="6365870" y="2962275"/>
            <a:ext cx="1209674" cy="1211263"/>
            <a:chOff x="6203577" y="3352801"/>
            <a:chExt cx="1210235" cy="1210235"/>
          </a:xfrm>
        </p:grpSpPr>
        <p:sp>
          <p:nvSpPr>
            <p:cNvPr id="8" name="椭圆 7"/>
            <p:cNvSpPr/>
            <p:nvPr/>
          </p:nvSpPr>
          <p:spPr>
            <a:xfrm>
              <a:off x="6203577" y="3352801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75" name="矩形 8"/>
            <p:cNvSpPr>
              <a:spLocks noChangeArrowheads="1"/>
            </p:cNvSpPr>
            <p:nvPr/>
          </p:nvSpPr>
          <p:spPr bwMode="auto">
            <a:xfrm>
              <a:off x="6443403" y="3536032"/>
              <a:ext cx="800590" cy="830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选择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界面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9" name="组合 14"/>
          <p:cNvGrpSpPr>
            <a:grpSpLocks/>
          </p:cNvGrpSpPr>
          <p:nvPr/>
        </p:nvGrpSpPr>
        <p:grpSpPr bwMode="auto">
          <a:xfrm>
            <a:off x="2128832" y="1308100"/>
            <a:ext cx="1211261" cy="1211263"/>
            <a:chOff x="6131859" y="1452283"/>
            <a:chExt cx="1210235" cy="1210235"/>
          </a:xfrm>
        </p:grpSpPr>
        <p:sp>
          <p:nvSpPr>
            <p:cNvPr id="16" name="椭圆 15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71" name="矩形 16"/>
            <p:cNvSpPr>
              <a:spLocks noChangeArrowheads="1"/>
            </p:cNvSpPr>
            <p:nvPr/>
          </p:nvSpPr>
          <p:spPr bwMode="auto">
            <a:xfrm>
              <a:off x="6318976" y="1693502"/>
              <a:ext cx="799541" cy="830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触摸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相应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0" name="组合 17"/>
          <p:cNvGrpSpPr>
            <a:grpSpLocks/>
          </p:cNvGrpSpPr>
          <p:nvPr/>
        </p:nvGrpSpPr>
        <p:grpSpPr bwMode="auto">
          <a:xfrm>
            <a:off x="1408106" y="2967038"/>
            <a:ext cx="1209674" cy="1211262"/>
            <a:chOff x="6131859" y="1452283"/>
            <a:chExt cx="1210235" cy="1210235"/>
          </a:xfrm>
        </p:grpSpPr>
        <p:sp>
          <p:nvSpPr>
            <p:cNvPr id="19" name="椭圆 18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69" name="矩形 19"/>
            <p:cNvSpPr>
              <a:spLocks noChangeArrowheads="1"/>
            </p:cNvSpPr>
            <p:nvPr/>
          </p:nvSpPr>
          <p:spPr bwMode="auto">
            <a:xfrm>
              <a:off x="6327469" y="1630756"/>
              <a:ext cx="800590" cy="830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开始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结束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1" name="组合 20"/>
          <p:cNvGrpSpPr>
            <a:grpSpLocks/>
          </p:cNvGrpSpPr>
          <p:nvPr/>
        </p:nvGrpSpPr>
        <p:grpSpPr bwMode="auto">
          <a:xfrm>
            <a:off x="2190757" y="4577754"/>
            <a:ext cx="1211261" cy="1209676"/>
            <a:chOff x="6117594" y="1458039"/>
            <a:chExt cx="1210235" cy="1210235"/>
          </a:xfrm>
        </p:grpSpPr>
        <p:sp>
          <p:nvSpPr>
            <p:cNvPr id="22" name="椭圆 21"/>
            <p:cNvSpPr/>
            <p:nvPr/>
          </p:nvSpPr>
          <p:spPr>
            <a:xfrm>
              <a:off x="6117594" y="1458039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6167" name="矩形 22"/>
            <p:cNvSpPr>
              <a:spLocks noChangeArrowheads="1"/>
            </p:cNvSpPr>
            <p:nvPr/>
          </p:nvSpPr>
          <p:spPr bwMode="auto">
            <a:xfrm>
              <a:off x="6322940" y="1705237"/>
              <a:ext cx="799541" cy="831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行为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响应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24" name="直接连接符 23"/>
          <p:cNvCxnSpPr>
            <a:stCxn id="6" idx="3"/>
            <a:endCxn id="2" idx="7"/>
          </p:cNvCxnSpPr>
          <p:nvPr/>
        </p:nvCxnSpPr>
        <p:spPr>
          <a:xfrm flipH="1">
            <a:off x="5197475" y="2336800"/>
            <a:ext cx="722313" cy="62388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stCxn id="8" idx="2"/>
            <a:endCxn id="2" idx="6"/>
          </p:cNvCxnSpPr>
          <p:nvPr/>
        </p:nvCxnSpPr>
        <p:spPr>
          <a:xfrm flipH="1">
            <a:off x="5449888" y="3568700"/>
            <a:ext cx="915987" cy="31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3" idx="1"/>
            <a:endCxn id="2" idx="5"/>
          </p:cNvCxnSpPr>
          <p:nvPr/>
        </p:nvCxnSpPr>
        <p:spPr>
          <a:xfrm flipH="1" flipV="1">
            <a:off x="5197475" y="4183063"/>
            <a:ext cx="825500" cy="62865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>
            <a:stCxn id="2" idx="1"/>
            <a:endCxn id="16" idx="5"/>
          </p:cNvCxnSpPr>
          <p:nvPr/>
        </p:nvCxnSpPr>
        <p:spPr>
          <a:xfrm flipH="1" flipV="1">
            <a:off x="3162300" y="2341563"/>
            <a:ext cx="812800" cy="61912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>
            <a:stCxn id="2" idx="2"/>
            <a:endCxn id="19" idx="6"/>
          </p:cNvCxnSpPr>
          <p:nvPr/>
        </p:nvCxnSpPr>
        <p:spPr>
          <a:xfrm flipH="1">
            <a:off x="2617788" y="3571875"/>
            <a:ext cx="11049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2" idx="3"/>
            <a:endCxn id="22" idx="7"/>
          </p:cNvCxnSpPr>
          <p:nvPr/>
        </p:nvCxnSpPr>
        <p:spPr>
          <a:xfrm flipH="1">
            <a:off x="3224633" y="4182532"/>
            <a:ext cx="750996" cy="57237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7405804" y="522433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界面布局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145957" y="585598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系统实现</a:t>
            </a:r>
            <a:endParaRPr lang="zh-CN" altLang="en-US" sz="28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5845175" y="4635500"/>
            <a:ext cx="1209675" cy="1209675"/>
            <a:chOff x="5845175" y="4635500"/>
            <a:chExt cx="1209675" cy="1209675"/>
          </a:xfrm>
        </p:grpSpPr>
        <p:grpSp>
          <p:nvGrpSpPr>
            <p:cNvPr id="7" name="组合 11"/>
            <p:cNvGrpSpPr>
              <a:grpSpLocks/>
            </p:cNvGrpSpPr>
            <p:nvPr/>
          </p:nvGrpSpPr>
          <p:grpSpPr bwMode="auto">
            <a:xfrm>
              <a:off x="5845175" y="4635500"/>
              <a:ext cx="1209675" cy="1209675"/>
              <a:chOff x="6203577" y="3352801"/>
              <a:chExt cx="1210235" cy="1210235"/>
            </a:xfrm>
          </p:grpSpPr>
          <p:sp>
            <p:nvSpPr>
              <p:cNvPr id="13" name="椭圆 12"/>
              <p:cNvSpPr/>
              <p:nvPr/>
            </p:nvSpPr>
            <p:spPr>
              <a:xfrm>
                <a:off x="6203577" y="3352801"/>
                <a:ext cx="1210235" cy="1210235"/>
              </a:xfrm>
              <a:prstGeom prst="ellips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4000" b="1" dirty="0">
                  <a:latin typeface="微软雅黑" pitchFamily="34" charset="-122"/>
                  <a:ea typeface="微软雅黑" pitchFamily="34" charset="-122"/>
                </a:endParaRPr>
              </a:p>
            </p:txBody>
          </p:sp>
          <p:sp>
            <p:nvSpPr>
              <p:cNvPr id="6173" name="矩形 13"/>
              <p:cNvSpPr>
                <a:spLocks noChangeArrowheads="1"/>
              </p:cNvSpPr>
              <p:nvPr/>
            </p:nvSpPr>
            <p:spPr bwMode="auto">
              <a:xfrm>
                <a:off x="6715256" y="3685032"/>
                <a:ext cx="184816" cy="523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pPr algn="ctr"/>
                <a:endParaRPr lang="zh-CN" altLang="en-US" sz="2800" b="1" dirty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32" name="矩形 8"/>
            <p:cNvSpPr>
              <a:spLocks noChangeArrowheads="1"/>
            </p:cNvSpPr>
            <p:nvPr/>
          </p:nvSpPr>
          <p:spPr bwMode="auto">
            <a:xfrm>
              <a:off x="5869087" y="4872108"/>
              <a:ext cx="1107996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子系统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界面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9201583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08" y="900112"/>
            <a:ext cx="1209674" cy="1209675"/>
            <a:chOff x="6131859" y="1452283"/>
            <a:chExt cx="1210235" cy="1210235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336681" y="1696996"/>
              <a:ext cx="800590" cy="831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界面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布局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599387" y="2560932"/>
            <a:ext cx="7452963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LinearLayout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altLang="zh-CN" kern="1050" spc="3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endParaRPr lang="en-US" altLang="zh-CN" kern="1050" spc="3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 err="1" smtClean="0">
                <a:solidFill>
                  <a:schemeClr val="bg1"/>
                </a:solidFill>
                <a:latin typeface="Times New Roman" panose="02020603050405020304" pitchFamily="18" charset="0"/>
              </a:rPr>
              <a:t>xmlns:android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="http://schemas.android.com/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apk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/res/android"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endParaRPr lang="en-US" altLang="zh-CN" kern="1050" spc="3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xmlns:tools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="http://schemas.android.com/tools"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</a:t>
            </a:r>
            <a:endParaRPr lang="en-US" altLang="zh-CN" kern="1050" spc="3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android:layout_height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match_parent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endParaRPr lang="en-US" altLang="zh-CN" kern="1050" spc="3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android:orientation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="vertical"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</a:t>
            </a:r>
            <a:endParaRPr lang="en-US" altLang="zh-CN" kern="1050" spc="3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 err="1" smtClean="0">
                <a:solidFill>
                  <a:schemeClr val="bg1"/>
                </a:solidFill>
                <a:latin typeface="Times New Roman" panose="02020603050405020304" pitchFamily="18" charset="0"/>
              </a:rPr>
              <a:t>tools:context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com.example.administrator.myapplication.MainActivity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indent="266700" algn="just">
              <a:lnSpc>
                <a:spcPct val="90000"/>
              </a:lnSpc>
              <a:spcAft>
                <a:spcPts val="0"/>
              </a:spcAft>
            </a:pPr>
            <a:endParaRPr lang="en-US" altLang="zh-CN" kern="1050" spc="3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indent="266700"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 err="1" smtClean="0">
                <a:solidFill>
                  <a:schemeClr val="bg1"/>
                </a:solidFill>
                <a:latin typeface="Times New Roman" panose="02020603050405020304" pitchFamily="18" charset="0"/>
              </a:rPr>
              <a:t>android:layout_width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match_parent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"&gt;  //</a:t>
            </a:r>
            <a:r>
              <a:rPr lang="zh-CN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设置关联文件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endParaRPr lang="en-US" altLang="zh-CN" kern="1050" spc="30" dirty="0" smtClean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&lt;/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LinearLayout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&gt;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15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08" y="900112"/>
            <a:ext cx="1209674" cy="1209675"/>
            <a:chOff x="6131859" y="1452283"/>
            <a:chExt cx="1210235" cy="1210235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336681" y="1696996"/>
              <a:ext cx="800590" cy="83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选择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界面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631235" y="2340099"/>
            <a:ext cx="7452963" cy="4829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TextView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             //</a:t>
            </a:r>
            <a:r>
              <a:rPr lang="zh-CN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作为按钮的文本框</a:t>
            </a:r>
            <a:endParaRPr lang="en-US" altLang="zh-CN" kern="1050" spc="3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android:layout_width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wrap_content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android:layout_height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wrap_content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android:id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="@+id/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tv_newgame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"             //</a:t>
            </a:r>
            <a:r>
              <a:rPr lang="zh-CN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设置控件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ID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android:textSize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="18dp"android:textColor="#000000"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android:paddingTop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="8dp"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android:paddingLeft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="20dp"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android:text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="New Game"                   //</a:t>
            </a:r>
            <a:r>
              <a:rPr lang="zh-CN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设置初始文本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/&gt;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&lt;/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LinearLayout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&gt;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8674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09" y="900112"/>
            <a:ext cx="1209674" cy="1209675"/>
            <a:chOff x="6131859" y="1452283"/>
            <a:chExt cx="1210235" cy="1210235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336681" y="1696996"/>
              <a:ext cx="800590" cy="83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触摸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相应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455" y="2739526"/>
            <a:ext cx="5601185" cy="36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4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812427" y="0"/>
            <a:ext cx="0" cy="300990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413062" y="0"/>
            <a:ext cx="0" cy="24765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2031345" y="0"/>
            <a:ext cx="0" cy="9144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10"/>
          <p:cNvGrpSpPr>
            <a:grpSpLocks/>
          </p:cNvGrpSpPr>
          <p:nvPr/>
        </p:nvGrpSpPr>
        <p:grpSpPr bwMode="auto">
          <a:xfrm>
            <a:off x="1426508" y="900112"/>
            <a:ext cx="1209674" cy="1209675"/>
            <a:chOff x="6131859" y="1452283"/>
            <a:chExt cx="1210235" cy="1210235"/>
          </a:xfrm>
        </p:grpSpPr>
        <p:sp>
          <p:nvSpPr>
            <p:cNvPr id="10" name="椭圆 9"/>
            <p:cNvSpPr/>
            <p:nvPr/>
          </p:nvSpPr>
          <p:spPr>
            <a:xfrm>
              <a:off x="6131859" y="1452283"/>
              <a:ext cx="1210235" cy="1210235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4000" b="1" dirty="0"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5" name="矩形 6"/>
            <p:cNvSpPr>
              <a:spLocks noChangeArrowheads="1"/>
            </p:cNvSpPr>
            <p:nvPr/>
          </p:nvSpPr>
          <p:spPr bwMode="auto">
            <a:xfrm>
              <a:off x="6336683" y="1696996"/>
              <a:ext cx="800590" cy="831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开始</a:t>
              </a:r>
              <a:endParaRPr lang="en-US" altLang="zh-CN" sz="2400" b="1" dirty="0" smtClean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2400" b="1" dirty="0" smtClean="0">
                  <a:solidFill>
                    <a:srgbClr val="FFFFFF"/>
                  </a:solidFill>
                  <a:latin typeface="微软雅黑" pitchFamily="34" charset="-122"/>
                  <a:ea typeface="微软雅黑" pitchFamily="34" charset="-122"/>
                </a:rPr>
                <a:t>结束</a:t>
              </a:r>
              <a:endParaRPr lang="zh-CN" altLang="en-US" sz="24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2636182" y="1975709"/>
            <a:ext cx="5249821" cy="4579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private void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Gameover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(){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boolean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OverGame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=true;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for (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y = 0; y &lt; 4; y++) {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for (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x = 0; x &lt; 4; x++) {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if(cards[x][y].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 &lt;= 0 ||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(x&gt;0&amp;&amp;cards[x][y].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 == cards[x-1][y].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())||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(x&lt;3 &amp;&amp; cards[x][y].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 == cards[x+1][y].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()) ||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(y&gt;0 &amp;&amp; cards[x][y].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 == cards[x][y-1].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()) ||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(y&lt;3&amp;&amp; cards[x][y].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 == cards[x][y+1].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getNumber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())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  ){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    </a:t>
            </a:r>
            <a:r>
              <a:rPr lang="en-US" altLang="zh-CN" kern="1050" spc="30" dirty="0" err="1">
                <a:solidFill>
                  <a:schemeClr val="bg1"/>
                </a:solidFill>
                <a:latin typeface="Times New Roman" panose="02020603050405020304" pitchFamily="18" charset="0"/>
              </a:rPr>
              <a:t>OverGame</a:t>
            </a: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=false;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    }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    }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spcAft>
                <a:spcPts val="0"/>
              </a:spcAft>
            </a:pPr>
            <a:r>
              <a:rPr lang="en-US" altLang="zh-CN" kern="1050" spc="30" dirty="0">
                <a:solidFill>
                  <a:schemeClr val="bg1"/>
                </a:solidFill>
                <a:latin typeface="Times New Roman" panose="02020603050405020304" pitchFamily="18" charset="0"/>
              </a:rPr>
              <a:t>      }</a:t>
            </a:r>
            <a:endParaRPr lang="zh-CN" altLang="zh-CN" kern="50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763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259001"/>
            <a:ext cx="9144000" cy="2340000"/>
          </a:xfrm>
          <a:prstGeom prst="rect">
            <a:avLst/>
          </a:prstGeom>
          <a:solidFill>
            <a:srgbClr val="0174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70907" y="2921169"/>
            <a:ext cx="37057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6000" b="1" dirty="0">
                <a:solidFill>
                  <a:schemeClr val="bg1"/>
                </a:solidFill>
              </a:rPr>
              <a:t>测试</a:t>
            </a:r>
            <a:r>
              <a:rPr lang="zh-CN" altLang="en-US" sz="6000" b="1" dirty="0" smtClean="0">
                <a:solidFill>
                  <a:schemeClr val="bg1"/>
                </a:solidFill>
              </a:rPr>
              <a:t>说明</a:t>
            </a:r>
            <a:endParaRPr lang="zh-CN" altLang="zh-CN" sz="60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949" y="661794"/>
            <a:ext cx="1117600" cy="538609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34400" b="1" dirty="0">
                <a:solidFill>
                  <a:schemeClr val="bg1">
                    <a:lumMod val="8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endParaRPr lang="zh-HK" altLang="en-US" sz="34400" b="1" dirty="0">
              <a:solidFill>
                <a:schemeClr val="bg1">
                  <a:lumMod val="8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426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4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、测试说明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9021" y="1699374"/>
            <a:ext cx="5654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4.1</a:t>
            </a:r>
            <a:r>
              <a:rPr lang="zh-CN" altLang="en-US" sz="2400" b="1" dirty="0">
                <a:solidFill>
                  <a:schemeClr val="bg1"/>
                </a:solidFill>
              </a:rPr>
              <a:t>体重档案软件在电脑模拟环境下测试 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5946" y="2272013"/>
            <a:ext cx="7772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        软件</a:t>
            </a:r>
            <a:r>
              <a:rPr lang="zh-CN" altLang="en-US" dirty="0">
                <a:solidFill>
                  <a:schemeClr val="bg1"/>
                </a:solidFill>
              </a:rPr>
              <a:t>编写完成，对其进行测试，首先将手机体重档案系统在电脑模拟环境下测试的方案， 以下是对系统进行测试，在 Android 的菜单栏中用鼠标点击运行按钮，在弹出的窗口中选择 "Run As"→"Android Application"安装该应用程序到 Android 模拟器并启动它，</a:t>
            </a: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271379" y="3682505"/>
            <a:ext cx="2810044" cy="212471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595" y="3633249"/>
            <a:ext cx="2407920" cy="2230884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687" y="3640569"/>
            <a:ext cx="2098040" cy="225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50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4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、测试说明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9021" y="1699374"/>
            <a:ext cx="5654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4.1</a:t>
            </a:r>
            <a:r>
              <a:rPr lang="zh-CN" altLang="en-US" sz="2400" b="1" dirty="0">
                <a:solidFill>
                  <a:schemeClr val="bg1"/>
                </a:solidFill>
              </a:rPr>
              <a:t>体重档案软件在电脑模拟环境下测试 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954397" y="2232999"/>
            <a:ext cx="1899285" cy="243602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3685127" y="2223873"/>
            <a:ext cx="1686560" cy="2454275"/>
          </a:xfrm>
          <a:prstGeom prst="rect">
            <a:avLst/>
          </a:prstGeom>
        </p:spPr>
      </p:pic>
      <p:pic>
        <p:nvPicPr>
          <p:cNvPr id="13" name="图片 12"/>
          <p:cNvPicPr/>
          <p:nvPr/>
        </p:nvPicPr>
        <p:blipFill>
          <a:blip r:embed="rId4"/>
          <a:stretch>
            <a:fillRect/>
          </a:stretch>
        </p:blipFill>
        <p:spPr>
          <a:xfrm>
            <a:off x="6203133" y="2077589"/>
            <a:ext cx="1776730" cy="2609685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5"/>
          <a:stretch>
            <a:fillRect/>
          </a:stretch>
        </p:blipFill>
        <p:spPr>
          <a:xfrm>
            <a:off x="2853682" y="4810573"/>
            <a:ext cx="3193415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07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4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、测试说明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9021" y="1699374"/>
            <a:ext cx="56541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4.1</a:t>
            </a:r>
            <a:r>
              <a:rPr lang="zh-CN" altLang="en-US" sz="2400" b="1" dirty="0">
                <a:solidFill>
                  <a:schemeClr val="bg1"/>
                </a:solidFill>
              </a:rPr>
              <a:t>体重档案软件在电脑模拟环境下测试 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/>
          <p:nvPr/>
        </p:nvPicPr>
        <p:blipFill>
          <a:blip r:embed="rId2"/>
          <a:stretch>
            <a:fillRect/>
          </a:stretch>
        </p:blipFill>
        <p:spPr>
          <a:xfrm>
            <a:off x="5227455" y="2451571"/>
            <a:ext cx="1951355" cy="3342005"/>
          </a:xfrm>
          <a:prstGeom prst="rect">
            <a:avLst/>
          </a:prstGeom>
        </p:spPr>
      </p:pic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1670709" y="2451571"/>
            <a:ext cx="2069465" cy="333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1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>
            <a:off x="0" y="1325655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-79464" y="5968122"/>
            <a:ext cx="9144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16"/>
          <p:cNvSpPr>
            <a:spLocks noChangeArrowheads="1"/>
          </p:cNvSpPr>
          <p:nvPr/>
        </p:nvSpPr>
        <p:spPr bwMode="auto">
          <a:xfrm>
            <a:off x="271378" y="566335"/>
            <a:ext cx="281004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4</a:t>
            </a:r>
            <a:r>
              <a:rPr lang="zh-CN" altLang="en-US" sz="3200" b="1" dirty="0" smtClean="0">
                <a:solidFill>
                  <a:schemeClr val="bg1"/>
                </a:solidFill>
              </a:rPr>
              <a:t>、测试说明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49021" y="1699374"/>
            <a:ext cx="57775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2400" b="1" dirty="0" smtClean="0">
                <a:solidFill>
                  <a:schemeClr val="bg1"/>
                </a:solidFill>
              </a:rPr>
              <a:t>4.2</a:t>
            </a:r>
            <a:r>
              <a:rPr lang="zh-CN" altLang="en-US" sz="2400" b="1" dirty="0">
                <a:solidFill>
                  <a:schemeClr val="bg1"/>
                </a:solidFill>
              </a:rPr>
              <a:t>体重档案软件在 </a:t>
            </a:r>
            <a:r>
              <a:rPr lang="en-US" altLang="zh-CN" sz="2400" b="1" dirty="0">
                <a:solidFill>
                  <a:schemeClr val="bg1"/>
                </a:solidFill>
              </a:rPr>
              <a:t>Android </a:t>
            </a:r>
            <a:r>
              <a:rPr lang="zh-CN" altLang="en-US" sz="2400" b="1" dirty="0">
                <a:solidFill>
                  <a:schemeClr val="bg1"/>
                </a:solidFill>
              </a:rPr>
              <a:t>手机下测试 </a:t>
            </a:r>
            <a:endParaRPr lang="en-US" altLang="zh-CN" sz="2400" b="1" dirty="0">
              <a:solidFill>
                <a:schemeClr val="bg1"/>
              </a:solidFill>
            </a:endParaRPr>
          </a:p>
        </p:txBody>
      </p:sp>
      <p:pic>
        <p:nvPicPr>
          <p:cNvPr id="11" name="图片 10" descr="C:\Users\Administrator\Documents\Tencent Files\975605592\Image\C2C\E3F374E587ACC0E785C673B525DB9A87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78" y="2222613"/>
            <a:ext cx="1538605" cy="2735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 descr="C:\Users\Administrator\Documents\Tencent Files\975605592\Image\C2C\F69C6ED400031D22C67C375312655127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6488" y="2211818"/>
            <a:ext cx="1551305" cy="275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图片 12" descr="C:\Users\Administrator\Documents\Tencent Files\975605592\Image\C2C\9B2B36E2F2AF365417A502B27B8C816A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4298" y="2216962"/>
            <a:ext cx="1417955" cy="275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3" descr="C:\Users\Administrator\Documents\Tencent Files\975605592\Image\C2C\DF10BECC433D7711940FF6FD53924444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8758" y="2211818"/>
            <a:ext cx="1417955" cy="275717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6628936" y="2161039"/>
            <a:ext cx="224250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       该</a:t>
            </a:r>
            <a:r>
              <a:rPr lang="zh-CN" altLang="en-US" dirty="0">
                <a:solidFill>
                  <a:schemeClr val="bg1"/>
                </a:solidFill>
              </a:rPr>
              <a:t>测试说明开发的体重档案软件可以独立在 </a:t>
            </a:r>
            <a:r>
              <a:rPr lang="en-US" altLang="zh-CN" dirty="0">
                <a:solidFill>
                  <a:schemeClr val="bg1"/>
                </a:solidFill>
              </a:rPr>
              <a:t>Android </a:t>
            </a:r>
            <a:r>
              <a:rPr lang="zh-CN" altLang="en-US" dirty="0">
                <a:solidFill>
                  <a:schemeClr val="bg1"/>
                </a:solidFill>
              </a:rPr>
              <a:t>设备运行，满足设 计要求的独立性，通过观察其所占内存，可以发现，体重档案软件十分 小，获取的数据的准确性很高，实时性；满足设计要求。 </a:t>
            </a:r>
          </a:p>
          <a:p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0400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/>
          <p:cNvSpPr txBox="1">
            <a:spLocks noChangeArrowheads="1"/>
          </p:cNvSpPr>
          <p:nvPr/>
        </p:nvSpPr>
        <p:spPr bwMode="auto">
          <a:xfrm>
            <a:off x="1590267" y="2703513"/>
            <a:ext cx="594124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80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Thank you!</a:t>
            </a:r>
            <a:endParaRPr lang="zh-CN" altLang="en-US" sz="8000" b="1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312863" y="4021138"/>
            <a:ext cx="64960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1312863" y="2787650"/>
            <a:ext cx="64960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97" name="TextBox 6"/>
          <p:cNvSpPr txBox="1">
            <a:spLocks noChangeArrowheads="1"/>
          </p:cNvSpPr>
          <p:nvPr/>
        </p:nvSpPr>
        <p:spPr bwMode="auto">
          <a:xfrm>
            <a:off x="1289050" y="2401888"/>
            <a:ext cx="6550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itchFamily="34" charset="0"/>
                <a:ea typeface="宋体" pitchFamily="2" charset="-122"/>
              </a:defRPr>
            </a:lvl9pPr>
          </a:lstStyle>
          <a:p>
            <a:pPr algn="dist" eaLnBrk="1" hangingPunct="1"/>
            <a:r>
              <a:rPr lang="zh-CN" altLang="en-US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感谢聆听</a:t>
            </a:r>
            <a:endParaRPr lang="zh-CN" altLang="en-US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商业周刊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3873"/>
      </a:accent1>
      <a:accent2>
        <a:srgbClr val="F70000"/>
      </a:accent2>
      <a:accent3>
        <a:srgbClr val="CEDBE7"/>
      </a:accent3>
      <a:accent4>
        <a:srgbClr val="E7EFF7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2">
      <a:majorFont>
        <a:latin typeface="Century Gothic"/>
        <a:ea typeface="方正稚艺简体"/>
        <a:cs typeface=""/>
      </a:majorFont>
      <a:minorFont>
        <a:latin typeface="Century Gothic"/>
        <a:ea typeface="方正稚艺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1035</Words>
  <Application>Microsoft Office PowerPoint</Application>
  <PresentationFormat>全屏显示(4:3)</PresentationFormat>
  <Paragraphs>169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微软雅黑</vt:lpstr>
      <vt:lpstr>Arial</vt:lpstr>
      <vt:lpstr>宋体</vt:lpstr>
      <vt:lpstr>Century Gothic</vt:lpstr>
      <vt:lpstr>方正稚艺简体</vt:lpstr>
      <vt:lpstr>华文楷体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技术宅没心没肺</dc:creator>
  <cp:lastModifiedBy>申 利俊</cp:lastModifiedBy>
  <cp:revision>102</cp:revision>
  <dcterms:created xsi:type="dcterms:W3CDTF">2010-12-23T12:45:26Z</dcterms:created>
  <dcterms:modified xsi:type="dcterms:W3CDTF">2018-05-23T02:14:54Z</dcterms:modified>
</cp:coreProperties>
</file>